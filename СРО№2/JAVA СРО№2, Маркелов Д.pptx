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28" autoAdjust="0"/>
    <p:restoredTop sz="94660"/>
  </p:normalViewPr>
  <p:slideViewPr>
    <p:cSldViewPr snapToGrid="0">
      <p:cViewPr varScale="1">
        <p:scale>
          <a:sx n="71" d="100"/>
          <a:sy n="71" d="100"/>
        </p:scale>
        <p:origin x="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1F070C-F17A-48EF-9E97-46DA179AE25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BBF27200-5580-4EA2-8CC8-97B8506520D7}">
      <dgm:prSet custT="1"/>
      <dgm:spPr/>
      <dgm:t>
        <a:bodyPr/>
        <a:lstStyle/>
        <a:p>
          <a:pPr rtl="0"/>
          <a:r>
            <a:rPr lang="ru-RU" sz="2800" b="1" i="1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Алгоритм выполняется следующим образом:</a:t>
          </a:r>
          <a:endParaRPr lang="ru-RU" sz="28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38E6A5-76DE-4890-BA20-33566B6F9944}" type="parTrans" cxnId="{E67451F5-0426-4A64-9BF2-FA80CEF63F49}">
      <dgm:prSet/>
      <dgm:spPr/>
      <dgm:t>
        <a:bodyPr/>
        <a:lstStyle/>
        <a:p>
          <a:endParaRPr lang="ru-RU"/>
        </a:p>
      </dgm:t>
    </dgm:pt>
    <dgm:pt modelId="{9721D187-DDA4-4B88-B570-C1B3AD345BEC}" type="sibTrans" cxnId="{E67451F5-0426-4A64-9BF2-FA80CEF63F49}">
      <dgm:prSet/>
      <dgm:spPr/>
      <dgm:t>
        <a:bodyPr/>
        <a:lstStyle/>
        <a:p>
          <a:endParaRPr lang="ru-RU"/>
        </a:p>
      </dgm:t>
    </dgm:pt>
    <dgm:pt modelId="{71B45D12-FBAE-4757-92B1-2D1E79763570}">
      <dgm:prSet custT="1"/>
      <dgm:spPr/>
      <dgm:t>
        <a:bodyPr/>
        <a:lstStyle/>
        <a:p>
          <a:pPr rtl="0"/>
          <a:r>
            <a:rPr lang="ru-RU" sz="2800" b="0" i="1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Начальная вершина добавляется в очередь; </a:t>
          </a:r>
          <a:endParaRPr lang="ru-RU" sz="28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B24212-DA66-4AC3-A0CB-925A828BE02E}" type="parTrans" cxnId="{6FFA882F-C92E-4C3D-92AD-087EEE98E241}">
      <dgm:prSet/>
      <dgm:spPr/>
      <dgm:t>
        <a:bodyPr/>
        <a:lstStyle/>
        <a:p>
          <a:endParaRPr lang="ru-RU"/>
        </a:p>
      </dgm:t>
    </dgm:pt>
    <dgm:pt modelId="{50C5B12D-BAF5-4F3D-A08F-A9426BEC8EA0}" type="sibTrans" cxnId="{6FFA882F-C92E-4C3D-92AD-087EEE98E241}">
      <dgm:prSet/>
      <dgm:spPr/>
      <dgm:t>
        <a:bodyPr/>
        <a:lstStyle/>
        <a:p>
          <a:endParaRPr lang="ru-RU"/>
        </a:p>
      </dgm:t>
    </dgm:pt>
    <dgm:pt modelId="{CC05838E-9E8B-4844-97A8-58B766851364}">
      <dgm:prSet custT="1"/>
      <dgm:spPr/>
      <dgm:t>
        <a:bodyPr/>
        <a:lstStyle/>
        <a:p>
          <a:pPr rtl="0"/>
          <a:r>
            <a:rPr lang="ru-RU" sz="2800" b="0" i="1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Она помечается как посещенная; </a:t>
          </a:r>
          <a:endParaRPr lang="ru-RU" sz="28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50C5F2-FAF6-46E3-AE15-CCFD69A72760}" type="parTrans" cxnId="{451EA202-801F-45E1-975F-255FB07E8821}">
      <dgm:prSet/>
      <dgm:spPr/>
      <dgm:t>
        <a:bodyPr/>
        <a:lstStyle/>
        <a:p>
          <a:endParaRPr lang="ru-RU"/>
        </a:p>
      </dgm:t>
    </dgm:pt>
    <dgm:pt modelId="{00DDB4C6-F0B3-422F-8A4E-7DBE199C9A19}" type="sibTrans" cxnId="{451EA202-801F-45E1-975F-255FB07E8821}">
      <dgm:prSet/>
      <dgm:spPr/>
      <dgm:t>
        <a:bodyPr/>
        <a:lstStyle/>
        <a:p>
          <a:endParaRPr lang="ru-RU"/>
        </a:p>
      </dgm:t>
    </dgm:pt>
    <dgm:pt modelId="{8E01FC89-2C48-4FC6-9D12-790D339524DD}">
      <dgm:prSet custT="1"/>
      <dgm:spPr/>
      <dgm:t>
        <a:bodyPr/>
        <a:lstStyle/>
        <a:p>
          <a:pPr rtl="0"/>
          <a:r>
            <a:rPr lang="ru-RU" sz="2800" b="1" i="1" u="sng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Для каждой вершины: </a:t>
          </a:r>
          <a:endParaRPr lang="ru-RU" sz="28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9BE8C93-57F5-4CE1-8FD4-7E4359E2115D}" type="parTrans" cxnId="{05CC3D20-D815-4CF7-BEF9-E47FE7941189}">
      <dgm:prSet/>
      <dgm:spPr/>
      <dgm:t>
        <a:bodyPr/>
        <a:lstStyle/>
        <a:p>
          <a:endParaRPr lang="ru-RU"/>
        </a:p>
      </dgm:t>
    </dgm:pt>
    <dgm:pt modelId="{CA450ABB-E8C2-438B-90CE-05DFB6F26F4E}" type="sibTrans" cxnId="{05CC3D20-D815-4CF7-BEF9-E47FE7941189}">
      <dgm:prSet/>
      <dgm:spPr/>
      <dgm:t>
        <a:bodyPr/>
        <a:lstStyle/>
        <a:p>
          <a:endParaRPr lang="ru-RU"/>
        </a:p>
      </dgm:t>
    </dgm:pt>
    <dgm:pt modelId="{34D4DD9D-2E1F-48D4-A560-3E31BD776F46}">
      <dgm:prSet custT="1"/>
      <dgm:spPr/>
      <dgm:t>
        <a:bodyPr/>
        <a:lstStyle/>
        <a:p>
          <a:pPr rtl="0"/>
          <a:r>
            <a:rPr lang="ru-RU" sz="2800" b="0" i="1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извлекается из очереди; </a:t>
          </a:r>
          <a:endParaRPr lang="ru-RU" sz="28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688C1DD-5C8B-4076-9A7C-084328CC8470}" type="parTrans" cxnId="{F3DF0BD3-B099-4353-8D7B-8250E81F8311}">
      <dgm:prSet/>
      <dgm:spPr/>
      <dgm:t>
        <a:bodyPr/>
        <a:lstStyle/>
        <a:p>
          <a:endParaRPr lang="ru-RU"/>
        </a:p>
      </dgm:t>
    </dgm:pt>
    <dgm:pt modelId="{26613AC9-82CA-475D-88C9-5CC109C796A4}" type="sibTrans" cxnId="{F3DF0BD3-B099-4353-8D7B-8250E81F8311}">
      <dgm:prSet/>
      <dgm:spPr/>
      <dgm:t>
        <a:bodyPr/>
        <a:lstStyle/>
        <a:p>
          <a:endParaRPr lang="ru-RU"/>
        </a:p>
      </dgm:t>
    </dgm:pt>
    <dgm:pt modelId="{17637D33-EFA7-49EC-AEF3-F31715C611BD}">
      <dgm:prSet custT="1"/>
      <dgm:spPr/>
      <dgm:t>
        <a:bodyPr/>
        <a:lstStyle/>
        <a:p>
          <a:pPr rtl="0"/>
          <a:r>
            <a:rPr lang="ru-RU" sz="2800" b="0" i="1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обрабатываются все соседи; </a:t>
          </a:r>
          <a:endParaRPr lang="ru-RU" sz="28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6E7873B-B904-42B5-ACED-5FED761216FD}" type="parTrans" cxnId="{60F4C4EF-E893-4E3D-A67D-D3FAB3B86DCC}">
      <dgm:prSet/>
      <dgm:spPr/>
      <dgm:t>
        <a:bodyPr/>
        <a:lstStyle/>
        <a:p>
          <a:endParaRPr lang="ru-RU"/>
        </a:p>
      </dgm:t>
    </dgm:pt>
    <dgm:pt modelId="{67D30079-CEDE-46E2-8946-EF48A0814148}" type="sibTrans" cxnId="{60F4C4EF-E893-4E3D-A67D-D3FAB3B86DCC}">
      <dgm:prSet/>
      <dgm:spPr/>
      <dgm:t>
        <a:bodyPr/>
        <a:lstStyle/>
        <a:p>
          <a:endParaRPr lang="ru-RU"/>
        </a:p>
      </dgm:t>
    </dgm:pt>
    <dgm:pt modelId="{673F399B-818D-463A-9D77-2234D5CDBB91}">
      <dgm:prSet custT="1"/>
      <dgm:spPr/>
      <dgm:t>
        <a:bodyPr/>
        <a:lstStyle/>
        <a:p>
          <a:pPr rtl="0"/>
          <a:r>
            <a:rPr lang="ru-RU" sz="2800" b="0" i="1" baseline="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непосещенные</a:t>
          </a:r>
          <a:r>
            <a:rPr lang="ru-RU" sz="2800" b="0" i="1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соседи добавляются в очередь; </a:t>
          </a:r>
          <a:endParaRPr lang="ru-RU" sz="28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472872B-4D39-4759-97B0-38DDD6292779}" type="parTrans" cxnId="{143A6428-E63F-48BB-912C-F7B073B80436}">
      <dgm:prSet/>
      <dgm:spPr/>
      <dgm:t>
        <a:bodyPr/>
        <a:lstStyle/>
        <a:p>
          <a:endParaRPr lang="ru-RU"/>
        </a:p>
      </dgm:t>
    </dgm:pt>
    <dgm:pt modelId="{9126AF30-0525-44E5-8738-177D37301A6B}" type="sibTrans" cxnId="{143A6428-E63F-48BB-912C-F7B073B80436}">
      <dgm:prSet/>
      <dgm:spPr/>
      <dgm:t>
        <a:bodyPr/>
        <a:lstStyle/>
        <a:p>
          <a:endParaRPr lang="ru-RU"/>
        </a:p>
      </dgm:t>
    </dgm:pt>
    <dgm:pt modelId="{CE9ED408-B269-460E-8EA6-434A3B353C99}">
      <dgm:prSet custT="1"/>
      <dgm:spPr/>
      <dgm:t>
        <a:bodyPr/>
        <a:lstStyle/>
        <a:p>
          <a:pPr rtl="0"/>
          <a:r>
            <a:rPr lang="ru-RU" sz="2800" b="0" i="1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вычисляется их расстояние. </a:t>
          </a:r>
          <a:endParaRPr lang="ru-RU" sz="28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2FCAFD-5478-41B9-A0B0-66987CFC6986}" type="parTrans" cxnId="{B3BFC750-8CA1-4F2B-858A-786EE5D2762F}">
      <dgm:prSet/>
      <dgm:spPr/>
      <dgm:t>
        <a:bodyPr/>
        <a:lstStyle/>
        <a:p>
          <a:endParaRPr lang="ru-RU"/>
        </a:p>
      </dgm:t>
    </dgm:pt>
    <dgm:pt modelId="{FC54AB66-A9C0-4874-ADFE-C80045893839}" type="sibTrans" cxnId="{B3BFC750-8CA1-4F2B-858A-786EE5D2762F}">
      <dgm:prSet/>
      <dgm:spPr/>
      <dgm:t>
        <a:bodyPr/>
        <a:lstStyle/>
        <a:p>
          <a:endParaRPr lang="ru-RU"/>
        </a:p>
      </dgm:t>
    </dgm:pt>
    <dgm:pt modelId="{CD1C94C6-8349-41E5-8F3B-0C2637BF5FF6}">
      <dgm:prSet custT="1"/>
      <dgm:spPr/>
      <dgm:t>
        <a:bodyPr/>
        <a:lstStyle/>
        <a:p>
          <a:pPr rtl="0"/>
          <a:r>
            <a:rPr lang="ru-RU" sz="2800" b="1" i="1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Расстояние определяется по формуле:</a:t>
          </a:r>
          <a:endParaRPr lang="ru-RU" sz="28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0C1EC13-0DCE-4F7F-A932-0738A8904A4B}" type="parTrans" cxnId="{E96BEAC1-AC26-4863-96D3-666C2C00D1AF}">
      <dgm:prSet/>
      <dgm:spPr/>
      <dgm:t>
        <a:bodyPr/>
        <a:lstStyle/>
        <a:p>
          <a:endParaRPr lang="ru-RU"/>
        </a:p>
      </dgm:t>
    </dgm:pt>
    <dgm:pt modelId="{5C76F851-D933-40F0-A516-591C81D2F931}" type="sibTrans" cxnId="{E96BEAC1-AC26-4863-96D3-666C2C00D1AF}">
      <dgm:prSet/>
      <dgm:spPr/>
      <dgm:t>
        <a:bodyPr/>
        <a:lstStyle/>
        <a:p>
          <a:endParaRPr lang="ru-RU"/>
        </a:p>
      </dgm:t>
    </dgm:pt>
    <dgm:pt modelId="{8EF95716-ACBA-410E-A19A-7FACB4285121}">
      <dgm:prSet custT="1"/>
      <dgm:spPr/>
      <dgm:t>
        <a:bodyPr/>
        <a:lstStyle/>
        <a:p>
          <a:pPr rtl="0"/>
          <a:r>
            <a:rPr lang="ru-RU" sz="2400" b="0" i="1" baseline="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distance</a:t>
          </a:r>
          <a:r>
            <a:rPr lang="ru-RU" sz="2400" b="0" i="1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[</a:t>
          </a:r>
          <a:r>
            <a:rPr lang="ru-RU" sz="2400" b="0" i="1" baseline="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neighbor</a:t>
          </a:r>
          <a:r>
            <a:rPr lang="ru-RU" sz="2400" b="0" i="1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] = </a:t>
          </a:r>
          <a:r>
            <a:rPr lang="ru-RU" sz="2400" b="0" i="1" baseline="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distance</a:t>
          </a:r>
          <a:r>
            <a:rPr lang="ru-RU" sz="2400" b="0" i="1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[</a:t>
          </a:r>
          <a:r>
            <a:rPr lang="ru-RU" sz="2400" b="0" i="1" baseline="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current</a:t>
          </a:r>
          <a:r>
            <a:rPr lang="ru-RU" sz="2400" b="0" i="1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] + 1</a:t>
          </a:r>
          <a:endParaRPr lang="ru-RU" sz="2400" b="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D09D4B-A9D3-4552-9769-92AD891719C8}" type="parTrans" cxnId="{86F606B6-4A46-4265-B0ED-1EC468447499}">
      <dgm:prSet/>
      <dgm:spPr/>
      <dgm:t>
        <a:bodyPr/>
        <a:lstStyle/>
        <a:p>
          <a:endParaRPr lang="ru-RU"/>
        </a:p>
      </dgm:t>
    </dgm:pt>
    <dgm:pt modelId="{F03E388E-40B7-4343-97E8-2FE0658A65EF}" type="sibTrans" cxnId="{86F606B6-4A46-4265-B0ED-1EC468447499}">
      <dgm:prSet/>
      <dgm:spPr/>
      <dgm:t>
        <a:bodyPr/>
        <a:lstStyle/>
        <a:p>
          <a:endParaRPr lang="ru-RU"/>
        </a:p>
      </dgm:t>
    </dgm:pt>
    <dgm:pt modelId="{B130B821-8B3C-4EED-B2F7-3A35B5CC87F5}" type="pres">
      <dgm:prSet presAssocID="{031F070C-F17A-48EF-9E97-46DA179AE25A}" presName="linear" presStyleCnt="0">
        <dgm:presLayoutVars>
          <dgm:animLvl val="lvl"/>
          <dgm:resizeHandles val="exact"/>
        </dgm:presLayoutVars>
      </dgm:prSet>
      <dgm:spPr/>
    </dgm:pt>
    <dgm:pt modelId="{73D1F893-A8E4-4CF0-A7A5-21EAFAB45514}" type="pres">
      <dgm:prSet presAssocID="{BBF27200-5580-4EA2-8CC8-97B8506520D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3E4B403-F7BC-4D52-975E-8B87750F9D98}" type="pres">
      <dgm:prSet presAssocID="{BBF27200-5580-4EA2-8CC8-97B8506520D7}" presName="childText" presStyleLbl="revTx" presStyleIdx="0" presStyleCnt="2">
        <dgm:presLayoutVars>
          <dgm:bulletEnabled val="1"/>
        </dgm:presLayoutVars>
      </dgm:prSet>
      <dgm:spPr/>
    </dgm:pt>
    <dgm:pt modelId="{A80DF113-898E-4013-9C9C-93F695471938}" type="pres">
      <dgm:prSet presAssocID="{8E01FC89-2C48-4FC6-9D12-790D339524D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6D1E3F9-C653-4048-BD30-F03F6FDFCADA}" type="pres">
      <dgm:prSet presAssocID="{8E01FC89-2C48-4FC6-9D12-790D339524DD}" presName="childText" presStyleLbl="revTx" presStyleIdx="1" presStyleCnt="2">
        <dgm:presLayoutVars>
          <dgm:bulletEnabled val="1"/>
        </dgm:presLayoutVars>
      </dgm:prSet>
      <dgm:spPr/>
    </dgm:pt>
    <dgm:pt modelId="{89E1E2FD-8D3A-404F-B09E-45955A2C321D}" type="pres">
      <dgm:prSet presAssocID="{CD1C94C6-8349-41E5-8F3B-0C2637BF5FF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41C971C-93EE-42E5-8012-A4F97FFE092D}" type="pres">
      <dgm:prSet presAssocID="{5C76F851-D933-40F0-A516-591C81D2F931}" presName="spacer" presStyleCnt="0"/>
      <dgm:spPr/>
    </dgm:pt>
    <dgm:pt modelId="{435B2DC4-687A-4DAB-BD67-B5F071BE2A5E}" type="pres">
      <dgm:prSet presAssocID="{8EF95716-ACBA-410E-A19A-7FACB428512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DB36A4A-96D0-4872-8DC2-861BD8FCE3C8}" type="presOf" srcId="{CC05838E-9E8B-4844-97A8-58B766851364}" destId="{B3E4B403-F7BC-4D52-975E-8B87750F9D98}" srcOrd="0" destOrd="1" presId="urn:microsoft.com/office/officeart/2005/8/layout/vList2"/>
    <dgm:cxn modelId="{B3BFC750-8CA1-4F2B-858A-786EE5D2762F}" srcId="{8E01FC89-2C48-4FC6-9D12-790D339524DD}" destId="{CE9ED408-B269-460E-8EA6-434A3B353C99}" srcOrd="3" destOrd="0" parTransId="{212FCAFD-5478-41B9-A0B0-66987CFC6986}" sibTransId="{FC54AB66-A9C0-4874-ADFE-C80045893839}"/>
    <dgm:cxn modelId="{D1B22C15-C104-47F0-97B3-B7DE48C48E94}" type="presOf" srcId="{34D4DD9D-2E1F-48D4-A560-3E31BD776F46}" destId="{16D1E3F9-C653-4048-BD30-F03F6FDFCADA}" srcOrd="0" destOrd="0" presId="urn:microsoft.com/office/officeart/2005/8/layout/vList2"/>
    <dgm:cxn modelId="{AB60621B-546E-456B-88F1-D67254C66071}" type="presOf" srcId="{8EF95716-ACBA-410E-A19A-7FACB4285121}" destId="{435B2DC4-687A-4DAB-BD67-B5F071BE2A5E}" srcOrd="0" destOrd="0" presId="urn:microsoft.com/office/officeart/2005/8/layout/vList2"/>
    <dgm:cxn modelId="{E96BEAC1-AC26-4863-96D3-666C2C00D1AF}" srcId="{031F070C-F17A-48EF-9E97-46DA179AE25A}" destId="{CD1C94C6-8349-41E5-8F3B-0C2637BF5FF6}" srcOrd="2" destOrd="0" parTransId="{60C1EC13-0DCE-4F7F-A932-0738A8904A4B}" sibTransId="{5C76F851-D933-40F0-A516-591C81D2F931}"/>
    <dgm:cxn modelId="{60F4C4EF-E893-4E3D-A67D-D3FAB3B86DCC}" srcId="{8E01FC89-2C48-4FC6-9D12-790D339524DD}" destId="{17637D33-EFA7-49EC-AEF3-F31715C611BD}" srcOrd="1" destOrd="0" parTransId="{46E7873B-B904-42B5-ACED-5FED761216FD}" sibTransId="{67D30079-CEDE-46E2-8946-EF48A0814148}"/>
    <dgm:cxn modelId="{C757E47C-8D7E-495E-A528-7CC342F7EF24}" type="presOf" srcId="{17637D33-EFA7-49EC-AEF3-F31715C611BD}" destId="{16D1E3F9-C653-4048-BD30-F03F6FDFCADA}" srcOrd="0" destOrd="1" presId="urn:microsoft.com/office/officeart/2005/8/layout/vList2"/>
    <dgm:cxn modelId="{6FFA882F-C92E-4C3D-92AD-087EEE98E241}" srcId="{BBF27200-5580-4EA2-8CC8-97B8506520D7}" destId="{71B45D12-FBAE-4757-92B1-2D1E79763570}" srcOrd="0" destOrd="0" parTransId="{28B24212-DA66-4AC3-A0CB-925A828BE02E}" sibTransId="{50C5B12D-BAF5-4F3D-A08F-A9426BEC8EA0}"/>
    <dgm:cxn modelId="{FC1D966F-1B54-43E3-B65C-7C8255FD6A71}" type="presOf" srcId="{8E01FC89-2C48-4FC6-9D12-790D339524DD}" destId="{A80DF113-898E-4013-9C9C-93F695471938}" srcOrd="0" destOrd="0" presId="urn:microsoft.com/office/officeart/2005/8/layout/vList2"/>
    <dgm:cxn modelId="{451EA202-801F-45E1-975F-255FB07E8821}" srcId="{BBF27200-5580-4EA2-8CC8-97B8506520D7}" destId="{CC05838E-9E8B-4844-97A8-58B766851364}" srcOrd="1" destOrd="0" parTransId="{1350C5F2-FAF6-46E3-AE15-CCFD69A72760}" sibTransId="{00DDB4C6-F0B3-422F-8A4E-7DBE199C9A19}"/>
    <dgm:cxn modelId="{D0D450E0-8155-46B6-B5D7-094F5A3A943B}" type="presOf" srcId="{031F070C-F17A-48EF-9E97-46DA179AE25A}" destId="{B130B821-8B3C-4EED-B2F7-3A35B5CC87F5}" srcOrd="0" destOrd="0" presId="urn:microsoft.com/office/officeart/2005/8/layout/vList2"/>
    <dgm:cxn modelId="{F94F6C1B-EEBD-4128-B0DD-D2CC005A2B69}" type="presOf" srcId="{CD1C94C6-8349-41E5-8F3B-0C2637BF5FF6}" destId="{89E1E2FD-8D3A-404F-B09E-45955A2C321D}" srcOrd="0" destOrd="0" presId="urn:microsoft.com/office/officeart/2005/8/layout/vList2"/>
    <dgm:cxn modelId="{AB6BD970-D1A4-4371-BB02-DEC26C1A0F89}" type="presOf" srcId="{BBF27200-5580-4EA2-8CC8-97B8506520D7}" destId="{73D1F893-A8E4-4CF0-A7A5-21EAFAB45514}" srcOrd="0" destOrd="0" presId="urn:microsoft.com/office/officeart/2005/8/layout/vList2"/>
    <dgm:cxn modelId="{3D4CD425-77AB-4994-B0D8-EFE3068EDB03}" type="presOf" srcId="{673F399B-818D-463A-9D77-2234D5CDBB91}" destId="{16D1E3F9-C653-4048-BD30-F03F6FDFCADA}" srcOrd="0" destOrd="2" presId="urn:microsoft.com/office/officeart/2005/8/layout/vList2"/>
    <dgm:cxn modelId="{70D0E278-DC35-4D95-9D2C-DADD33DECE61}" type="presOf" srcId="{CE9ED408-B269-460E-8EA6-434A3B353C99}" destId="{16D1E3F9-C653-4048-BD30-F03F6FDFCADA}" srcOrd="0" destOrd="3" presId="urn:microsoft.com/office/officeart/2005/8/layout/vList2"/>
    <dgm:cxn modelId="{86F606B6-4A46-4265-B0ED-1EC468447499}" srcId="{031F070C-F17A-48EF-9E97-46DA179AE25A}" destId="{8EF95716-ACBA-410E-A19A-7FACB4285121}" srcOrd="3" destOrd="0" parTransId="{28D09D4B-A9D3-4552-9769-92AD891719C8}" sibTransId="{F03E388E-40B7-4343-97E8-2FE0658A65EF}"/>
    <dgm:cxn modelId="{E67451F5-0426-4A64-9BF2-FA80CEF63F49}" srcId="{031F070C-F17A-48EF-9E97-46DA179AE25A}" destId="{BBF27200-5580-4EA2-8CC8-97B8506520D7}" srcOrd="0" destOrd="0" parTransId="{F738E6A5-76DE-4890-BA20-33566B6F9944}" sibTransId="{9721D187-DDA4-4B88-B570-C1B3AD345BEC}"/>
    <dgm:cxn modelId="{F3DF0BD3-B099-4353-8D7B-8250E81F8311}" srcId="{8E01FC89-2C48-4FC6-9D12-790D339524DD}" destId="{34D4DD9D-2E1F-48D4-A560-3E31BD776F46}" srcOrd="0" destOrd="0" parTransId="{F688C1DD-5C8B-4076-9A7C-084328CC8470}" sibTransId="{26613AC9-82CA-475D-88C9-5CC109C796A4}"/>
    <dgm:cxn modelId="{DA2A717B-7010-419B-8495-6CA2896B1565}" type="presOf" srcId="{71B45D12-FBAE-4757-92B1-2D1E79763570}" destId="{B3E4B403-F7BC-4D52-975E-8B87750F9D98}" srcOrd="0" destOrd="0" presId="urn:microsoft.com/office/officeart/2005/8/layout/vList2"/>
    <dgm:cxn modelId="{143A6428-E63F-48BB-912C-F7B073B80436}" srcId="{8E01FC89-2C48-4FC6-9D12-790D339524DD}" destId="{673F399B-818D-463A-9D77-2234D5CDBB91}" srcOrd="2" destOrd="0" parTransId="{0472872B-4D39-4759-97B0-38DDD6292779}" sibTransId="{9126AF30-0525-44E5-8738-177D37301A6B}"/>
    <dgm:cxn modelId="{05CC3D20-D815-4CF7-BEF9-E47FE7941189}" srcId="{031F070C-F17A-48EF-9E97-46DA179AE25A}" destId="{8E01FC89-2C48-4FC6-9D12-790D339524DD}" srcOrd="1" destOrd="0" parTransId="{39BE8C93-57F5-4CE1-8FD4-7E4359E2115D}" sibTransId="{CA450ABB-E8C2-438B-90CE-05DFB6F26F4E}"/>
    <dgm:cxn modelId="{17ED7E22-4DB8-45AE-AF5E-B330EEED96B8}" type="presParOf" srcId="{B130B821-8B3C-4EED-B2F7-3A35B5CC87F5}" destId="{73D1F893-A8E4-4CF0-A7A5-21EAFAB45514}" srcOrd="0" destOrd="0" presId="urn:microsoft.com/office/officeart/2005/8/layout/vList2"/>
    <dgm:cxn modelId="{B074BD17-0487-4D13-8F3D-0323A34F0AC9}" type="presParOf" srcId="{B130B821-8B3C-4EED-B2F7-3A35B5CC87F5}" destId="{B3E4B403-F7BC-4D52-975E-8B87750F9D98}" srcOrd="1" destOrd="0" presId="urn:microsoft.com/office/officeart/2005/8/layout/vList2"/>
    <dgm:cxn modelId="{27A2033E-DD06-4CE0-A9B0-F1A01F13F959}" type="presParOf" srcId="{B130B821-8B3C-4EED-B2F7-3A35B5CC87F5}" destId="{A80DF113-898E-4013-9C9C-93F695471938}" srcOrd="2" destOrd="0" presId="urn:microsoft.com/office/officeart/2005/8/layout/vList2"/>
    <dgm:cxn modelId="{0585C11D-5BBF-456E-BC6D-8C3C8F2F0191}" type="presParOf" srcId="{B130B821-8B3C-4EED-B2F7-3A35B5CC87F5}" destId="{16D1E3F9-C653-4048-BD30-F03F6FDFCADA}" srcOrd="3" destOrd="0" presId="urn:microsoft.com/office/officeart/2005/8/layout/vList2"/>
    <dgm:cxn modelId="{86AAB670-999C-4A16-AADC-9E12DB0406EF}" type="presParOf" srcId="{B130B821-8B3C-4EED-B2F7-3A35B5CC87F5}" destId="{89E1E2FD-8D3A-404F-B09E-45955A2C321D}" srcOrd="4" destOrd="0" presId="urn:microsoft.com/office/officeart/2005/8/layout/vList2"/>
    <dgm:cxn modelId="{34F8C4CA-B287-4A62-A1C5-255D48784E11}" type="presParOf" srcId="{B130B821-8B3C-4EED-B2F7-3A35B5CC87F5}" destId="{F41C971C-93EE-42E5-8012-A4F97FFE092D}" srcOrd="5" destOrd="0" presId="urn:microsoft.com/office/officeart/2005/8/layout/vList2"/>
    <dgm:cxn modelId="{04A66987-64DA-4E59-BDD6-5F223BB852B7}" type="presParOf" srcId="{B130B821-8B3C-4EED-B2F7-3A35B5CC87F5}" destId="{435B2DC4-687A-4DAB-BD67-B5F071BE2A5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D1F893-A8E4-4CF0-A7A5-21EAFAB45514}">
      <dsp:nvSpPr>
        <dsp:cNvPr id="0" name=""/>
        <dsp:cNvSpPr/>
      </dsp:nvSpPr>
      <dsp:spPr>
        <a:xfrm>
          <a:off x="0" y="15252"/>
          <a:ext cx="11819964" cy="692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b="1" i="1" kern="1200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Алгоритм выполняется следующим образом:</a:t>
          </a:r>
          <a:endParaRPr lang="ru-RU" sz="2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812" y="49064"/>
        <a:ext cx="11752340" cy="625016"/>
      </dsp:txXfrm>
    </dsp:sp>
    <dsp:sp modelId="{B3E4B403-F7BC-4D52-975E-8B87750F9D98}">
      <dsp:nvSpPr>
        <dsp:cNvPr id="0" name=""/>
        <dsp:cNvSpPr/>
      </dsp:nvSpPr>
      <dsp:spPr>
        <a:xfrm>
          <a:off x="0" y="707892"/>
          <a:ext cx="11819964" cy="899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5284" tIns="35560" rIns="199136" bIns="35560" numCol="1" spcCol="1270" anchor="t" anchorCtr="0">
          <a:noAutofit/>
        </a:bodyPr>
        <a:lstStyle/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2800" b="0" i="1" kern="1200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Начальная вершина добавляется в очередь; </a:t>
          </a:r>
          <a:endParaRPr lang="ru-RU" sz="2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2800" b="0" i="1" kern="1200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Она помечается как посещенная; </a:t>
          </a:r>
          <a:endParaRPr lang="ru-RU" sz="2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707892"/>
        <a:ext cx="11819964" cy="899932"/>
      </dsp:txXfrm>
    </dsp:sp>
    <dsp:sp modelId="{A80DF113-898E-4013-9C9C-93F695471938}">
      <dsp:nvSpPr>
        <dsp:cNvPr id="0" name=""/>
        <dsp:cNvSpPr/>
      </dsp:nvSpPr>
      <dsp:spPr>
        <a:xfrm>
          <a:off x="0" y="1607824"/>
          <a:ext cx="11819964" cy="692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b="1" i="1" u="sng" kern="1200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Для каждой вершины: </a:t>
          </a:r>
          <a:endParaRPr lang="ru-RU" sz="2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812" y="1641636"/>
        <a:ext cx="11752340" cy="625016"/>
      </dsp:txXfrm>
    </dsp:sp>
    <dsp:sp modelId="{16D1E3F9-C653-4048-BD30-F03F6FDFCADA}">
      <dsp:nvSpPr>
        <dsp:cNvPr id="0" name=""/>
        <dsp:cNvSpPr/>
      </dsp:nvSpPr>
      <dsp:spPr>
        <a:xfrm>
          <a:off x="0" y="2300464"/>
          <a:ext cx="11819964" cy="1799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5284" tIns="35560" rIns="199136" bIns="35560" numCol="1" spcCol="1270" anchor="t" anchorCtr="0">
          <a:noAutofit/>
        </a:bodyPr>
        <a:lstStyle/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2800" b="0" i="1" kern="1200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извлекается из очереди; </a:t>
          </a:r>
          <a:endParaRPr lang="ru-RU" sz="2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2800" b="0" i="1" kern="1200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обрабатываются все соседи; </a:t>
          </a:r>
          <a:endParaRPr lang="ru-RU" sz="2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2800" b="0" i="1" kern="1200" baseline="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непосещенные</a:t>
          </a:r>
          <a:r>
            <a:rPr lang="ru-RU" sz="2800" b="0" i="1" kern="1200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соседи добавляются в очередь; </a:t>
          </a:r>
          <a:endParaRPr lang="ru-RU" sz="2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2800" b="0" i="1" kern="1200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вычисляется их расстояние. </a:t>
          </a:r>
          <a:endParaRPr lang="ru-RU" sz="2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300464"/>
        <a:ext cx="11819964" cy="1799865"/>
      </dsp:txXfrm>
    </dsp:sp>
    <dsp:sp modelId="{89E1E2FD-8D3A-404F-B09E-45955A2C321D}">
      <dsp:nvSpPr>
        <dsp:cNvPr id="0" name=""/>
        <dsp:cNvSpPr/>
      </dsp:nvSpPr>
      <dsp:spPr>
        <a:xfrm>
          <a:off x="0" y="4100329"/>
          <a:ext cx="11819964" cy="692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b="1" i="1" kern="1200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Расстояние определяется по формуле:</a:t>
          </a:r>
          <a:endParaRPr lang="ru-RU" sz="2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812" y="4134141"/>
        <a:ext cx="11752340" cy="625016"/>
      </dsp:txXfrm>
    </dsp:sp>
    <dsp:sp modelId="{435B2DC4-687A-4DAB-BD67-B5F071BE2A5E}">
      <dsp:nvSpPr>
        <dsp:cNvPr id="0" name=""/>
        <dsp:cNvSpPr/>
      </dsp:nvSpPr>
      <dsp:spPr>
        <a:xfrm>
          <a:off x="0" y="4899529"/>
          <a:ext cx="11819964" cy="692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0" i="1" kern="1200" baseline="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distance</a:t>
          </a:r>
          <a:r>
            <a:rPr lang="ru-RU" sz="2400" b="0" i="1" kern="1200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[</a:t>
          </a:r>
          <a:r>
            <a:rPr lang="ru-RU" sz="2400" b="0" i="1" kern="1200" baseline="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neighbor</a:t>
          </a:r>
          <a:r>
            <a:rPr lang="ru-RU" sz="2400" b="0" i="1" kern="1200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] = </a:t>
          </a:r>
          <a:r>
            <a:rPr lang="ru-RU" sz="2400" b="0" i="1" kern="1200" baseline="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distance</a:t>
          </a:r>
          <a:r>
            <a:rPr lang="ru-RU" sz="2400" b="0" i="1" kern="1200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[</a:t>
          </a:r>
          <a:r>
            <a:rPr lang="ru-RU" sz="2400" b="0" i="1" kern="1200" baseline="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current</a:t>
          </a:r>
          <a:r>
            <a:rPr lang="ru-RU" sz="2400" b="0" i="1" kern="1200" baseline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] + 1</a:t>
          </a:r>
          <a:endParaRPr lang="ru-RU" sz="2400" b="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812" y="4933341"/>
        <a:ext cx="11752340" cy="6250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15B5-2572-405C-9891-FA5569A6A340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DB8F1-4B9C-4073-BF38-6A27ED00D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1486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15B5-2572-405C-9891-FA5569A6A340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DB8F1-4B9C-4073-BF38-6A27ED00D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1108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15B5-2572-405C-9891-FA5569A6A340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DB8F1-4B9C-4073-BF38-6A27ED00D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9672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15B5-2572-405C-9891-FA5569A6A340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DB8F1-4B9C-4073-BF38-6A27ED00D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6230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15B5-2572-405C-9891-FA5569A6A340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DB8F1-4B9C-4073-BF38-6A27ED00D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8569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15B5-2572-405C-9891-FA5569A6A340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DB8F1-4B9C-4073-BF38-6A27ED00D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530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15B5-2572-405C-9891-FA5569A6A340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DB8F1-4B9C-4073-BF38-6A27ED00D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3702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15B5-2572-405C-9891-FA5569A6A340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DB8F1-4B9C-4073-BF38-6A27ED00D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5943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15B5-2572-405C-9891-FA5569A6A340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DB8F1-4B9C-4073-BF38-6A27ED00D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4519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15B5-2572-405C-9891-FA5569A6A340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DB8F1-4B9C-4073-BF38-6A27ED00D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7159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15B5-2572-405C-9891-FA5569A6A340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DB8F1-4B9C-4073-BF38-6A27ED00D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24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8815B5-2572-405C-9891-FA5569A6A340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DB8F1-4B9C-4073-BF38-6A27ED00D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755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000" b="1" i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обхода графа(BFS)</a:t>
            </a:r>
            <a:endParaRPr lang="ru-RU" sz="4000" b="1" i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3255962"/>
          </a:xfrm>
        </p:spPr>
        <p:txBody>
          <a:bodyPr/>
          <a:lstStyle/>
          <a:p>
            <a:pPr algn="just"/>
            <a:endParaRPr lang="ru-RU" sz="200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00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Сдал</a:t>
            </a:r>
            <a:r>
              <a:rPr lang="ru-RU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 студент </a:t>
            </a:r>
            <a:r>
              <a:rPr lang="ru-RU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гр.ИС</a:t>
            </a:r>
            <a:r>
              <a:rPr lang="ru-RU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24-21</a:t>
            </a:r>
          </a:p>
          <a:p>
            <a:pPr algn="just"/>
            <a:r>
              <a:rPr lang="ru-RU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Маркелов Дмитрий</a:t>
            </a:r>
          </a:p>
          <a:p>
            <a:pPr algn="just"/>
            <a:r>
              <a:rPr lang="ru-RU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Проверил: преподаватель </a:t>
            </a:r>
            <a:r>
              <a:rPr lang="en-US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ru-RU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Рашидинов</a:t>
            </a:r>
            <a:r>
              <a:rPr lang="ru-RU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Дамир </a:t>
            </a:r>
            <a:r>
              <a:rPr lang="ru-RU" sz="2000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Рашидинович</a:t>
            </a:r>
            <a:r>
              <a:rPr lang="ru-RU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788183" y="101084"/>
            <a:ext cx="3403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Almaty Technological University</a:t>
            </a:r>
            <a:endParaRPr lang="ru-RU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63452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41293"/>
          </a:xfrm>
        </p:spPr>
        <p:txBody>
          <a:bodyPr>
            <a:normAutofit/>
          </a:bodyPr>
          <a:lstStyle/>
          <a:p>
            <a:pPr algn="ctr"/>
            <a:r>
              <a:rPr lang="ru-RU" sz="32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Содержание:</a:t>
            </a:r>
            <a:endParaRPr lang="ru-RU" sz="32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68406" y="1520785"/>
            <a:ext cx="11255188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задачи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программы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алгоритмы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работы BFS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 реализации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работы программы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Выводы </a:t>
            </a:r>
          </a:p>
        </p:txBody>
      </p:sp>
    </p:spTree>
    <p:extLst>
      <p:ext uri="{BB962C8B-B14F-4D97-AF65-F5344CB8AC3E}">
        <p14:creationId xmlns:p14="http://schemas.microsoft.com/office/powerpoint/2010/main" val="3324646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74058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Введение:</a:t>
            </a:r>
            <a:endParaRPr lang="ru-RU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76" y="753035"/>
            <a:ext cx="6858000" cy="5916706"/>
          </a:xfrm>
        </p:spPr>
        <p:txBody>
          <a:bodyPr/>
          <a:lstStyle/>
          <a:p>
            <a:pPr marL="0" indent="0" algn="just">
              <a:buNone/>
            </a:pPr>
            <a:endParaRPr lang="ru-RU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Графы являются одной из ключевых структур данных в информатике и широко применяются в различных областях: от социальных сетей до навигационных систем.</a:t>
            </a:r>
            <a:b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Одним из базовых алгоритмов обхода графа является 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поиск в ширину (</a:t>
            </a:r>
            <a:r>
              <a:rPr lang="ru-RU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Breadth-First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BFS)</a:t>
            </a: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2" name="Picture 4" descr="Circle connecting the nodes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0964" y="1627094"/>
            <a:ext cx="4115648" cy="27430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72780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39587"/>
          </a:xfrm>
        </p:spPr>
        <p:txBody>
          <a:bodyPr>
            <a:normAutofit/>
          </a:bodyPr>
          <a:lstStyle/>
          <a:p>
            <a:pPr algn="ctr"/>
            <a:r>
              <a:rPr lang="ru-RU" sz="32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задачи:</a:t>
            </a:r>
            <a:endParaRPr lang="ru-RU" sz="32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1024" y="739588"/>
            <a:ext cx="7570694" cy="5957047"/>
          </a:xfrm>
        </p:spPr>
        <p:txBody>
          <a:bodyPr/>
          <a:lstStyle/>
          <a:p>
            <a:pPr marL="0" indent="0" algn="just">
              <a:buNone/>
            </a:pPr>
            <a:endParaRPr lang="ru-RU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Цель программы: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неориентированный граф;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выполнить обход графа в ширину (BFS);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определить расстояние (количество шагов) от начальной вершины до всех остальных.</a:t>
            </a:r>
            <a:endParaRPr lang="ru-RU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Introduction to Graph - Tutoria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1305" y="1674419"/>
            <a:ext cx="3941108" cy="30250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850727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21976"/>
          </a:xfrm>
        </p:spPr>
        <p:txBody>
          <a:bodyPr>
            <a:normAutofit/>
          </a:bodyPr>
          <a:lstStyle/>
          <a:p>
            <a:pPr algn="ctr"/>
            <a:r>
              <a:rPr lang="ru-RU" sz="32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программы</a:t>
            </a:r>
            <a:endParaRPr lang="ru-RU" sz="32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76" y="1021976"/>
            <a:ext cx="11914095" cy="5661211"/>
          </a:xfrm>
        </p:spPr>
        <p:txBody>
          <a:bodyPr/>
          <a:lstStyle/>
          <a:p>
            <a:pPr marL="0" indent="0" algn="just">
              <a:buNone/>
            </a:pPr>
            <a:r>
              <a:rPr lang="ru-RU" i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состоит из следующих элементов: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Класс </a:t>
            </a:r>
            <a:r>
              <a:rPr lang="ru-RU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— описывает граф;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смежности (</a:t>
            </a:r>
            <a:r>
              <a:rPr lang="ru-RU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— хранит связи между вершинами;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ru-RU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addEdge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— добавляет ребра;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ru-RU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bfsWithDistances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— выполняет BFS и считает расстояния;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ru-RU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— обеспечивает ввод данных пользователем.</a:t>
            </a:r>
          </a:p>
          <a:p>
            <a:pPr marL="0" indent="0" algn="just">
              <a:buNone/>
            </a:pPr>
            <a:r>
              <a:rPr lang="ru-RU" i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 программе используется: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данных </a:t>
            </a:r>
            <a:r>
              <a:rPr lang="ru-RU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(очередь)</a:t>
            </a: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— для реализации BFS;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Массив </a:t>
            </a:r>
            <a:r>
              <a:rPr lang="ru-RU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visited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— отслеживание посещенных вершин;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Массив </a:t>
            </a:r>
            <a:r>
              <a:rPr lang="ru-RU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— хранение расстояний от стартовой вершины.</a:t>
            </a:r>
          </a:p>
          <a:p>
            <a:pPr marL="0" indent="0" algn="just">
              <a:buNone/>
            </a:pPr>
            <a:endParaRPr lang="ru-RU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9286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08530"/>
          </a:xfrm>
        </p:spPr>
        <p:txBody>
          <a:bodyPr>
            <a:normAutofit/>
          </a:bodyPr>
          <a:lstStyle/>
          <a:p>
            <a:pPr algn="ctr"/>
            <a:r>
              <a:rPr lang="ru-RU" sz="32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работы </a:t>
            </a:r>
            <a:r>
              <a:rPr lang="en-US" sz="32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BFS</a:t>
            </a:r>
            <a:endParaRPr lang="ru-RU" sz="32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Объект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4796866"/>
              </p:ext>
            </p:extLst>
          </p:nvPr>
        </p:nvGraphicFramePr>
        <p:xfrm>
          <a:off x="107575" y="1008531"/>
          <a:ext cx="11819965" cy="56074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63795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399"/>
          </a:xfrm>
        </p:spPr>
        <p:txBody>
          <a:bodyPr>
            <a:normAutofit/>
          </a:bodyPr>
          <a:lstStyle/>
          <a:p>
            <a:pPr algn="ctr"/>
            <a:r>
              <a:rPr lang="ru-RU" sz="32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 реализации</a:t>
            </a:r>
            <a:endParaRPr lang="ru-RU" sz="32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1024" y="914400"/>
            <a:ext cx="7024838" cy="5728447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ü"/>
            </a:pPr>
            <a:endParaRPr lang="ru-RU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Граф является 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неориентированным</a:t>
            </a: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(ребра добавляются в обе стороны);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Используется 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динамическая структура </a:t>
            </a:r>
            <a:r>
              <a:rPr lang="ru-RU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вместо массива;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Расстояние до недостижимых вершин обозначается как 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поддерживает 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интерактивный ввод</a:t>
            </a: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Добавлена проверка корректности вершин. </a:t>
            </a:r>
            <a:endParaRPr lang="ru-RU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Mastering Queues in Golang. So I’ve been learning and working with… | by Abati Babatunde Daniel | Medi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7081" y="2070848"/>
            <a:ext cx="4663700" cy="287300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9540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60611"/>
          </a:xfrm>
        </p:spPr>
        <p:txBody>
          <a:bodyPr>
            <a:normAutofit/>
          </a:bodyPr>
          <a:lstStyle/>
          <a:p>
            <a:pPr algn="ctr"/>
            <a:r>
              <a:rPr lang="ru-RU" sz="32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работы программы:</a:t>
            </a:r>
            <a:endParaRPr lang="ru-RU" sz="32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8259" y="860612"/>
            <a:ext cx="11165541" cy="583602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Ввод:</a:t>
            </a:r>
          </a:p>
          <a:p>
            <a:pPr algn="just"/>
            <a:r>
              <a:rPr lang="ru-RU" sz="2000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Вершины: 5                  </a:t>
            </a:r>
          </a:p>
          <a:p>
            <a:pPr algn="just"/>
            <a:r>
              <a:rPr lang="ru-RU" sz="2000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Ребра: 4  </a:t>
            </a:r>
          </a:p>
          <a:p>
            <a:pPr algn="just"/>
            <a:r>
              <a:rPr lang="ru-RU" sz="2000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0 1  </a:t>
            </a:r>
          </a:p>
          <a:p>
            <a:pPr algn="just"/>
            <a:r>
              <a:rPr lang="ru-RU" sz="2000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0 2  </a:t>
            </a:r>
          </a:p>
          <a:p>
            <a:pPr algn="just"/>
            <a:r>
              <a:rPr lang="ru-RU" sz="2000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1 3  </a:t>
            </a:r>
          </a:p>
          <a:p>
            <a:pPr algn="just"/>
            <a:r>
              <a:rPr lang="ru-RU" sz="2000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3 4  </a:t>
            </a:r>
          </a:p>
          <a:p>
            <a:pPr algn="just"/>
            <a:r>
              <a:rPr lang="ru-RU" sz="2000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Старт: 0 </a:t>
            </a:r>
          </a:p>
          <a:p>
            <a:pPr marL="0" indent="0" algn="just">
              <a:buNone/>
            </a:pPr>
            <a:r>
              <a:rPr lang="ru-RU" sz="2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sz="2000" i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Посещена вершина: 0 (Уровень: 0)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sz="2000" i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Посещена вершина: 1 (Уровень: 1)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sz="2000" i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Посещена вершина: 2 (Уровень: 1)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sz="2000" i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Посещена вершина: 3 (Уровень: 2)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sz="2000" i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Посещена вершина: 4 (Уровень: 3)</a:t>
            </a:r>
            <a:endParaRPr lang="ru-RU" sz="2000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BFS Program in C | Breadth First Search - Sanfoundr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387" y="1627094"/>
            <a:ext cx="4948891" cy="321269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17843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21976"/>
          </a:xfrm>
        </p:spPr>
        <p:txBody>
          <a:bodyPr>
            <a:normAutofit/>
          </a:bodyPr>
          <a:lstStyle/>
          <a:p>
            <a:pPr algn="ctr"/>
            <a:r>
              <a:rPr lang="ru-RU" sz="32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Выводы:</a:t>
            </a:r>
            <a:endParaRPr lang="ru-RU" sz="32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49625" y="1414521"/>
            <a:ext cx="11497878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RU" altLang="ru-RU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эффективный алгоритм обхода графа BFS;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RU" altLang="ru-RU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позволяет находить кратчайшее расстояние в невзвешенном графе;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RU" altLang="ru-RU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очереди обеспечивает корректный порядок обхода;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RU" altLang="ru-RU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 универсально и может применяться в задачах: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RU" altLang="ru-RU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поиска пути,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RU" altLang="ru-RU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анализа сетей,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RU" altLang="ru-RU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маршрутизации.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50833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ru-RU" sz="4000" b="1" i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4000" b="1" i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4000" b="1" i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 !</a:t>
            </a:r>
            <a:endParaRPr lang="ru-RU" sz="4000" b="1" i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506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</Words>
  <Application>Microsoft Office PowerPoint</Application>
  <PresentationFormat>Широкоэкранный</PresentationFormat>
  <Paragraphs>86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Wingdings</vt:lpstr>
      <vt:lpstr>Тема Office</vt:lpstr>
      <vt:lpstr>Реализация обхода графа(BFS)</vt:lpstr>
      <vt:lpstr>Содержание:</vt:lpstr>
      <vt:lpstr>Введение:</vt:lpstr>
      <vt:lpstr>Описание задачи:</vt:lpstr>
      <vt:lpstr>Структура программы</vt:lpstr>
      <vt:lpstr>Принцип работы BFS</vt:lpstr>
      <vt:lpstr>Особенности реализации</vt:lpstr>
      <vt:lpstr>Пример работы программы:</vt:lpstr>
      <vt:lpstr>Выводы: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Dmitriy</dc:creator>
  <cp:lastModifiedBy>Dmitriy</cp:lastModifiedBy>
  <cp:revision>10</cp:revision>
  <dcterms:created xsi:type="dcterms:W3CDTF">2026-04-10T18:02:58Z</dcterms:created>
  <dcterms:modified xsi:type="dcterms:W3CDTF">2026-04-10T19:00:49Z</dcterms:modified>
</cp:coreProperties>
</file>